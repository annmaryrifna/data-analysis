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2" r:id="rId13"/>
    <p:sldId id="343" r:id="rId14"/>
    <p:sldId id="344"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5" d="100"/>
          <a:sy n="85" d="100"/>
        </p:scale>
        <p:origin x="494" y="6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10/1/2026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10/1/2026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096000" y="4890144"/>
            <a:ext cx="4527665" cy="861497"/>
          </a:xfrm>
        </p:spPr>
        <p:txBody>
          <a:bodyPr>
            <a:normAutofit fontScale="70000" lnSpcReduction="20000"/>
          </a:bodyPr>
          <a:lstStyle/>
          <a:p>
            <a:r>
              <a:rPr lang="en-IN" b="0" dirty="0">
                <a:solidFill>
                  <a:schemeClr val="tx1"/>
                </a:solidFill>
              </a:rPr>
              <a:t>Ann Mary Rifna M J</a:t>
            </a:r>
          </a:p>
          <a:p>
            <a:r>
              <a:rPr lang="en-IN" b="0" dirty="0">
                <a:solidFill>
                  <a:schemeClr val="tx1"/>
                </a:solidFill>
              </a:rPr>
              <a:t>AICET ID: STU6a69c27e0bba61785315966</a:t>
            </a:r>
          </a:p>
          <a:p>
            <a:r>
              <a:rPr lang="en-IN" b="0" dirty="0">
                <a:solidFill>
                  <a:schemeClr val="tx1"/>
                </a:solidFill>
              </a:rPr>
              <a:t>Mar Athanasius College of Engineering</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60569" y="2720157"/>
            <a:ext cx="10047461" cy="743448"/>
          </a:xfrm>
        </p:spPr>
        <p:txBody>
          <a:bodyPr>
            <a:normAutofit/>
          </a:bodyPr>
          <a:lstStyle/>
          <a:p>
            <a:r>
              <a:rPr lang="en-GB" sz="3200" dirty="0"/>
              <a:t>         </a:t>
            </a:r>
            <a:r>
              <a:rPr lang="en-US" sz="3200" dirty="0"/>
              <a:t>Healthcare Analytics for Doctor Visits TIRTC</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85000" lnSpcReduction="10000"/>
          </a:bodyPr>
          <a:lstStyle/>
          <a:p>
            <a:pPr algn="just">
              <a:lnSpc>
                <a:spcPct val="150000"/>
              </a:lnSpc>
            </a:pPr>
            <a:r>
              <a:rPr lang="en-US" sz="2800" dirty="0"/>
              <a:t>The problem is to analyze patient healthcare data to identify patterns, relationships, and factors associated with doctor visits, and derive meaningful insights that can support better healthcare planning and decision-making.</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1">
            <a:extLst>
              <a:ext uri="{FF2B5EF4-FFF2-40B4-BE49-F238E27FC236}">
                <a16:creationId xmlns:a16="http://schemas.microsoft.com/office/drawing/2014/main" id="{4D651028-D101-4485-A6FF-A94CDCB28C74}"/>
              </a:ext>
            </a:extLst>
          </p:cNvPr>
          <p:cNvSpPr>
            <a:spLocks noGrp="1"/>
          </p:cNvSpPr>
          <p:nvPr>
            <p:ph type="body" sz="quarter" idx="12"/>
          </p:nvPr>
        </p:nvSpPr>
        <p:spPr>
          <a:xfrm>
            <a:off x="1046479" y="1875556"/>
            <a:ext cx="8080895" cy="3607987"/>
          </a:xfrm>
        </p:spPr>
        <p:txBody>
          <a:bodyPr>
            <a:normAutofit fontScale="85000" lnSpcReduction="10000"/>
          </a:bodyPr>
          <a:lstStyle/>
          <a:p>
            <a:pPr algn="just"/>
            <a:r>
              <a:rPr lang="en-US" sz="2800" dirty="0"/>
              <a:t>This project focuses on analyzing healthcare data to understand doctor visit patterns among patients. The analysis examines demographic factors such as age, gender, and income, along with illness, health status, reduced activity, healthcare coverage, and chronic conditions.</a:t>
            </a:r>
          </a:p>
          <a:p>
            <a:pPr algn="just"/>
            <a:r>
              <a:rPr lang="en-US" sz="2800" dirty="0"/>
              <a:t>Using data cleaning, exploratory data analysis, statistical analysis, and visualizations, the project aims to identify meaningful patterns and relationships that can help understand healthcare utilization.</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43554"/>
            <a:ext cx="2181225" cy="485775"/>
          </a:xfrm>
          <a:prstGeom prst="rect">
            <a:avLst/>
          </a:prstGeom>
        </p:spPr>
      </p:pic>
      <p:sp>
        <p:nvSpPr>
          <p:cNvPr id="5" name="Rectangle 2">
            <a:extLst>
              <a:ext uri="{FF2B5EF4-FFF2-40B4-BE49-F238E27FC236}">
                <a16:creationId xmlns:a16="http://schemas.microsoft.com/office/drawing/2014/main" id="{1C309DC8-F058-47E4-8B81-EACE9E2E1C5E}"/>
              </a:ext>
            </a:extLst>
          </p:cNvPr>
          <p:cNvSpPr>
            <a:spLocks noGrp="1" noChangeArrowheads="1"/>
          </p:cNvSpPr>
          <p:nvPr>
            <p:ph type="body" sz="quarter" idx="12"/>
          </p:nvPr>
        </p:nvSpPr>
        <p:spPr bwMode="auto">
          <a:xfrm>
            <a:off x="721359" y="1803332"/>
            <a:ext cx="875150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pPr>
            <a:r>
              <a:rPr kumimoji="0" lang="en-US" altLang="en-US" sz="2400" b="1" i="0" u="none" strike="noStrike" cap="none" normalizeH="0" baseline="0" dirty="0">
                <a:ln>
                  <a:noFill/>
                </a:ln>
                <a:effectLst/>
              </a:rPr>
              <a:t>Healthcare providers &amp; doctors </a:t>
            </a:r>
            <a:r>
              <a:rPr kumimoji="0" lang="en-US" altLang="en-US" sz="2400" i="0" u="none" strike="noStrike" cap="none" normalizeH="0" baseline="0" dirty="0">
                <a:ln>
                  <a:noFill/>
                </a:ln>
                <a:effectLst/>
              </a:rPr>
              <a:t>– to understand patient visit patterns and healthcare needs. </a:t>
            </a:r>
          </a:p>
          <a:p>
            <a:pPr defTabSz="914400" eaLnBrk="0" fontAlgn="base" hangingPunct="0">
              <a:spcBef>
                <a:spcPct val="0"/>
              </a:spcBef>
              <a:spcAft>
                <a:spcPct val="0"/>
              </a:spcAft>
              <a:buClrTx/>
              <a:buSzTx/>
            </a:pPr>
            <a:r>
              <a:rPr kumimoji="0" lang="en-US" altLang="en-US" sz="2400" b="1" i="0" u="none" strike="noStrike" cap="none" normalizeH="0" baseline="0" dirty="0">
                <a:ln>
                  <a:noFill/>
                </a:ln>
                <a:effectLst/>
              </a:rPr>
              <a:t>Hospitals &amp; clinics </a:t>
            </a:r>
            <a:r>
              <a:rPr kumimoji="0" lang="en-US" altLang="en-US" sz="2400" i="0" u="none" strike="noStrike" cap="none" normalizeH="0" baseline="0" dirty="0">
                <a:ln>
                  <a:noFill/>
                </a:ln>
                <a:effectLst/>
              </a:rPr>
              <a:t>– to support resource and service planning. </a:t>
            </a:r>
          </a:p>
          <a:p>
            <a:pPr defTabSz="914400" eaLnBrk="0" fontAlgn="base" hangingPunct="0">
              <a:spcBef>
                <a:spcPct val="0"/>
              </a:spcBef>
              <a:spcAft>
                <a:spcPct val="0"/>
              </a:spcAft>
              <a:buClrTx/>
              <a:buSzTx/>
            </a:pPr>
            <a:r>
              <a:rPr kumimoji="0" lang="en-US" altLang="en-US" sz="2400" b="1" i="0" u="none" strike="noStrike" cap="none" normalizeH="0" baseline="0" dirty="0">
                <a:ln>
                  <a:noFill/>
                </a:ln>
                <a:effectLst/>
              </a:rPr>
              <a:t>Healthcare administrators</a:t>
            </a:r>
            <a:r>
              <a:rPr kumimoji="0" lang="en-US" altLang="en-US" sz="2400" i="0" u="none" strike="noStrike" cap="none" normalizeH="0" baseline="0" dirty="0">
                <a:ln>
                  <a:noFill/>
                </a:ln>
                <a:effectLst/>
              </a:rPr>
              <a:t> – to analyze healthcare utilization and patient trends. </a:t>
            </a:r>
          </a:p>
          <a:p>
            <a:pPr defTabSz="914400" eaLnBrk="0" fontAlgn="base" hangingPunct="0">
              <a:spcBef>
                <a:spcPct val="0"/>
              </a:spcBef>
              <a:spcAft>
                <a:spcPct val="0"/>
              </a:spcAft>
              <a:buClrTx/>
              <a:buSzTx/>
            </a:pPr>
            <a:r>
              <a:rPr kumimoji="0" lang="en-US" altLang="en-US" sz="2400" b="1" i="0" u="none" strike="noStrike" cap="none" normalizeH="0" baseline="0" dirty="0">
                <a:ln>
                  <a:noFill/>
                </a:ln>
                <a:effectLst/>
              </a:rPr>
              <a:t>Public health organizations </a:t>
            </a:r>
            <a:r>
              <a:rPr kumimoji="0" lang="en-US" altLang="en-US" sz="2400" i="0" u="none" strike="noStrike" cap="none" normalizeH="0" baseline="0" dirty="0">
                <a:ln>
                  <a:noFill/>
                </a:ln>
                <a:effectLst/>
              </a:rPr>
              <a:t>– to identify population-level healthcare patterns</a:t>
            </a:r>
          </a:p>
          <a:p>
            <a:pPr defTabSz="914400" eaLnBrk="0" fontAlgn="base" hangingPunct="0">
              <a:spcBef>
                <a:spcPct val="0"/>
              </a:spcBef>
              <a:spcAft>
                <a:spcPct val="0"/>
              </a:spcAft>
              <a:buClrTx/>
              <a:buSzTx/>
            </a:pPr>
            <a:r>
              <a:rPr lang="en-US" sz="2400" b="1" dirty="0"/>
              <a:t>Data analysts &amp; researchers </a:t>
            </a:r>
            <a:r>
              <a:rPr lang="en-US" sz="2400" dirty="0"/>
              <a:t>– to study factors influencing healthcare utilization.</a:t>
            </a:r>
            <a:endParaRPr kumimoji="0" lang="en-US" altLang="en-US" sz="2400" i="0" u="none" strike="noStrike" cap="none" normalizeH="0" baseline="0" dirty="0">
              <a:ln>
                <a:noFill/>
              </a:ln>
              <a:effectLst/>
            </a:endParaRP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172014" y="1614552"/>
            <a:ext cx="9027702" cy="5243448"/>
          </a:xfrm>
        </p:spPr>
        <p:txBody>
          <a:bodyPr>
            <a:normAutofit/>
          </a:bodyPr>
          <a:lstStyle/>
          <a:p>
            <a:pPr lvl="1">
              <a:lnSpc>
                <a:spcPct val="150000"/>
              </a:lnSpc>
            </a:pPr>
            <a:r>
              <a:rPr lang="en-IN" sz="2400" dirty="0"/>
              <a:t>Python</a:t>
            </a:r>
          </a:p>
          <a:p>
            <a:pPr lvl="1">
              <a:lnSpc>
                <a:spcPct val="150000"/>
              </a:lnSpc>
            </a:pPr>
            <a:r>
              <a:rPr lang="en-IN" sz="2400" dirty="0"/>
              <a:t>Pandas</a:t>
            </a:r>
          </a:p>
          <a:p>
            <a:pPr lvl="1">
              <a:lnSpc>
                <a:spcPct val="150000"/>
              </a:lnSpc>
            </a:pPr>
            <a:r>
              <a:rPr lang="en-IN" sz="2400" dirty="0"/>
              <a:t>NumPy</a:t>
            </a:r>
          </a:p>
          <a:p>
            <a:pPr lvl="1">
              <a:lnSpc>
                <a:spcPct val="150000"/>
              </a:lnSpc>
            </a:pPr>
            <a:r>
              <a:rPr lang="en-IN" sz="2400" dirty="0"/>
              <a:t>Matplotlib</a:t>
            </a:r>
          </a:p>
          <a:p>
            <a:pPr lvl="1">
              <a:lnSpc>
                <a:spcPct val="150000"/>
              </a:lnSpc>
            </a:pPr>
            <a:r>
              <a:rPr lang="en-IN" sz="2400" dirty="0"/>
              <a:t>seaborn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26" name="Picture 2">
            <a:extLst>
              <a:ext uri="{FF2B5EF4-FFF2-40B4-BE49-F238E27FC236}">
                <a16:creationId xmlns:a16="http://schemas.microsoft.com/office/drawing/2014/main" id="{9DEE1295-C648-43AE-8B95-FD2EC726FD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9571" y="1201586"/>
            <a:ext cx="6705600" cy="447675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66CEAB90-B6DC-406C-AD94-C5A897380D4D}"/>
              </a:ext>
            </a:extLst>
          </p:cNvPr>
          <p:cNvSpPr/>
          <p:nvPr/>
        </p:nvSpPr>
        <p:spPr>
          <a:xfrm>
            <a:off x="2378210" y="5751962"/>
            <a:ext cx="6096000" cy="646331"/>
          </a:xfrm>
          <a:prstGeom prst="rect">
            <a:avLst/>
          </a:prstGeom>
        </p:spPr>
        <p:txBody>
          <a:bodyPr>
            <a:spAutoFit/>
          </a:bodyPr>
          <a:lstStyle/>
          <a:p>
            <a:r>
              <a:rPr lang="en-US" dirty="0"/>
              <a:t>Female patients are slightly higher in number than male patient</a:t>
            </a:r>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pic>
        <p:nvPicPr>
          <p:cNvPr id="2050" name="Picture 2">
            <a:extLst>
              <a:ext uri="{FF2B5EF4-FFF2-40B4-BE49-F238E27FC236}">
                <a16:creationId xmlns:a16="http://schemas.microsoft.com/office/drawing/2014/main" id="{98C7F06F-FB7F-4321-AF48-7B3AD84E3D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40" y="1228140"/>
            <a:ext cx="7522907" cy="479048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8E5868C4-A2C0-46BE-9B3A-A781A274EC67}"/>
              </a:ext>
            </a:extLst>
          </p:cNvPr>
          <p:cNvSpPr/>
          <p:nvPr/>
        </p:nvSpPr>
        <p:spPr>
          <a:xfrm>
            <a:off x="1593255" y="6148754"/>
            <a:ext cx="6096000" cy="646331"/>
          </a:xfrm>
          <a:prstGeom prst="rect">
            <a:avLst/>
          </a:prstGeom>
        </p:spPr>
        <p:txBody>
          <a:bodyPr>
            <a:spAutoFit/>
          </a:bodyPr>
          <a:lstStyle/>
          <a:p>
            <a:r>
              <a:rPr lang="en-US" dirty="0"/>
              <a:t>Younger patients are more represented in the dataset, with age around 0.2–0.3 having the highest frequency.</a:t>
            </a:r>
            <a:endParaRPr lang="en-IN" dirty="0"/>
          </a:p>
        </p:txBody>
      </p:sp>
    </p:spTree>
    <p:extLst>
      <p:ext uri="{BB962C8B-B14F-4D97-AF65-F5344CB8AC3E}">
        <p14:creationId xmlns:p14="http://schemas.microsoft.com/office/powerpoint/2010/main" val="1997739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074" name="Picture 2">
            <a:extLst>
              <a:ext uri="{FF2B5EF4-FFF2-40B4-BE49-F238E27FC236}">
                <a16:creationId xmlns:a16="http://schemas.microsoft.com/office/drawing/2014/main" id="{E15CFD91-FC36-4B86-B731-69CCAB1B5E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4693" y="1070957"/>
            <a:ext cx="6556504" cy="451167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3D196B6B-89A4-4137-A4E9-B73B7E16F7F8}"/>
              </a:ext>
            </a:extLst>
          </p:cNvPr>
          <p:cNvSpPr/>
          <p:nvPr/>
        </p:nvSpPr>
        <p:spPr>
          <a:xfrm>
            <a:off x="1774945" y="5656414"/>
            <a:ext cx="6096000" cy="923330"/>
          </a:xfrm>
          <a:prstGeom prst="rect">
            <a:avLst/>
          </a:prstGeom>
        </p:spPr>
        <p:txBody>
          <a:bodyPr>
            <a:spAutoFit/>
          </a:bodyPr>
          <a:lstStyle/>
          <a:p>
            <a:r>
              <a:rPr lang="en-US" dirty="0"/>
              <a:t>Doctor visits increase as the number of reported illnesses increases, with patients having 5 illnesses showing the highest average visits.</a:t>
            </a:r>
            <a:endParaRPr lang="en-IN" dirty="0"/>
          </a:p>
        </p:txBody>
      </p:sp>
    </p:spTree>
    <p:extLst>
      <p:ext uri="{BB962C8B-B14F-4D97-AF65-F5344CB8AC3E}">
        <p14:creationId xmlns:p14="http://schemas.microsoft.com/office/powerpoint/2010/main" val="965643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a:extLst>
              <a:ext uri="{FF2B5EF4-FFF2-40B4-BE49-F238E27FC236}">
                <a16:creationId xmlns:a16="http://schemas.microsoft.com/office/drawing/2014/main" id="{3D196B6B-89A4-4137-A4E9-B73B7E16F7F8}"/>
              </a:ext>
            </a:extLst>
          </p:cNvPr>
          <p:cNvSpPr/>
          <p:nvPr/>
        </p:nvSpPr>
        <p:spPr>
          <a:xfrm>
            <a:off x="1747519" y="5859580"/>
            <a:ext cx="6096000" cy="646331"/>
          </a:xfrm>
          <a:prstGeom prst="rect">
            <a:avLst/>
          </a:prstGeom>
        </p:spPr>
        <p:txBody>
          <a:bodyPr>
            <a:spAutoFit/>
          </a:bodyPr>
          <a:lstStyle/>
          <a:p>
            <a:r>
              <a:rPr lang="en-US" dirty="0"/>
              <a:t>Higher-risk patients show a higher proportion of doctor visits across all analyzed health-related factors.</a:t>
            </a:r>
            <a:endParaRPr lang="en-IN" dirty="0"/>
          </a:p>
        </p:txBody>
      </p:sp>
      <p:pic>
        <p:nvPicPr>
          <p:cNvPr id="6" name="Picture 5">
            <a:extLst>
              <a:ext uri="{FF2B5EF4-FFF2-40B4-BE49-F238E27FC236}">
                <a16:creationId xmlns:a16="http://schemas.microsoft.com/office/drawing/2014/main" id="{F29A5E0C-2696-4395-842C-7872131D9894}"/>
              </a:ext>
            </a:extLst>
          </p:cNvPr>
          <p:cNvPicPr>
            <a:picLocks noChangeAspect="1"/>
          </p:cNvPicPr>
          <p:nvPr/>
        </p:nvPicPr>
        <p:blipFill>
          <a:blip r:embed="rId3"/>
          <a:stretch>
            <a:fillRect/>
          </a:stretch>
        </p:blipFill>
        <p:spPr>
          <a:xfrm>
            <a:off x="675957" y="1201586"/>
            <a:ext cx="8740897" cy="4473328"/>
          </a:xfrm>
          <a:prstGeom prst="rect">
            <a:avLst/>
          </a:prstGeom>
        </p:spPr>
      </p:pic>
    </p:spTree>
    <p:extLst>
      <p:ext uri="{BB962C8B-B14F-4D97-AF65-F5344CB8AC3E}">
        <p14:creationId xmlns:p14="http://schemas.microsoft.com/office/powerpoint/2010/main" val="302970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a:extLst>
              <a:ext uri="{FF2B5EF4-FFF2-40B4-BE49-F238E27FC236}">
                <a16:creationId xmlns:a16="http://schemas.microsoft.com/office/drawing/2014/main" id="{3D196B6B-89A4-4137-A4E9-B73B7E16F7F8}"/>
              </a:ext>
            </a:extLst>
          </p:cNvPr>
          <p:cNvSpPr/>
          <p:nvPr/>
        </p:nvSpPr>
        <p:spPr>
          <a:xfrm>
            <a:off x="1774945" y="5656414"/>
            <a:ext cx="6096000" cy="923330"/>
          </a:xfrm>
          <a:prstGeom prst="rect">
            <a:avLst/>
          </a:prstGeom>
        </p:spPr>
        <p:txBody>
          <a:bodyPr>
            <a:spAutoFit/>
          </a:bodyPr>
          <a:lstStyle/>
          <a:p>
            <a:r>
              <a:rPr lang="en-US" i="1" dirty="0"/>
              <a:t>Doctor visits have the strongest positive relationship with reduced activity, followed by illness and poor health status.</a:t>
            </a:r>
            <a:endParaRPr lang="en-IN" dirty="0"/>
          </a:p>
        </p:txBody>
      </p:sp>
      <p:pic>
        <p:nvPicPr>
          <p:cNvPr id="6" name="Picture 5">
            <a:extLst>
              <a:ext uri="{FF2B5EF4-FFF2-40B4-BE49-F238E27FC236}">
                <a16:creationId xmlns:a16="http://schemas.microsoft.com/office/drawing/2014/main" id="{1BDD9411-E9CB-4404-8146-90985922A87B}"/>
              </a:ext>
            </a:extLst>
          </p:cNvPr>
          <p:cNvPicPr>
            <a:picLocks noChangeAspect="1"/>
          </p:cNvPicPr>
          <p:nvPr/>
        </p:nvPicPr>
        <p:blipFill rotWithShape="1">
          <a:blip r:embed="rId3"/>
          <a:srcRect l="1169" r="1"/>
          <a:stretch/>
        </p:blipFill>
        <p:spPr>
          <a:xfrm>
            <a:off x="1666240" y="994991"/>
            <a:ext cx="5611034" cy="4587638"/>
          </a:xfrm>
          <a:prstGeom prst="rect">
            <a:avLst/>
          </a:prstGeom>
        </p:spPr>
      </p:pic>
    </p:spTree>
    <p:extLst>
      <p:ext uri="{BB962C8B-B14F-4D97-AF65-F5344CB8AC3E}">
        <p14:creationId xmlns:p14="http://schemas.microsoft.com/office/powerpoint/2010/main" val="1065528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3669737" cy="830997"/>
          </a:xfrm>
        </p:spPr>
        <p:txBody>
          <a:bodyPr>
            <a:normAutofit/>
          </a:bodyPr>
          <a:lstStyle/>
          <a:p>
            <a:r>
              <a:rPr lang="en-IN" dirty="0"/>
              <a:t>GitHub Link</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Rectangle 2">
            <a:extLst>
              <a:ext uri="{FF2B5EF4-FFF2-40B4-BE49-F238E27FC236}">
                <a16:creationId xmlns:a16="http://schemas.microsoft.com/office/drawing/2014/main" id="{B2AB69BA-64F7-427B-845C-F6295C1B667C}"/>
              </a:ext>
            </a:extLst>
          </p:cNvPr>
          <p:cNvSpPr/>
          <p:nvPr/>
        </p:nvSpPr>
        <p:spPr>
          <a:xfrm>
            <a:off x="675957" y="2331435"/>
            <a:ext cx="12089784" cy="646331"/>
          </a:xfrm>
          <a:prstGeom prst="rect">
            <a:avLst/>
          </a:prstGeom>
        </p:spPr>
        <p:txBody>
          <a:bodyPr wrap="square">
            <a:spAutoFit/>
          </a:bodyPr>
          <a:lstStyle/>
          <a:p>
            <a:r>
              <a:rPr lang="en-IN" dirty="0"/>
              <a:t>https://github.com/annmaryrifna/Data-Analysis/upload/main/</a:t>
            </a:r>
          </a:p>
          <a:p>
            <a:r>
              <a:rPr lang="en-IN" dirty="0"/>
              <a:t>Healthcare%20Analytics%20for%20Doctor%20Visits</a:t>
            </a:r>
          </a:p>
        </p:txBody>
      </p:sp>
    </p:spTree>
    <p:extLst>
      <p:ext uri="{BB962C8B-B14F-4D97-AF65-F5344CB8AC3E}">
        <p14:creationId xmlns:p14="http://schemas.microsoft.com/office/powerpoint/2010/main" val="2982535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6492" y="237316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16c05727-aa75-4e4a-9b5f-8a80a1165891"/>
    <ds:schemaRef ds:uri="http://purl.org/dc/elements/1.1/"/>
    <ds:schemaRef ds:uri="http://schemas.microsoft.com/office/2006/metadata/properties"/>
    <ds:schemaRef ds:uri="71af3243-3dd4-4a8d-8c0d-dd76da1f02a5"/>
    <ds:schemaRef ds:uri="http://www.w3.org/XML/1998/namespace"/>
    <ds:schemaRef ds:uri="http://purl.org/dc/dcmitype/"/>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639</TotalTime>
  <Words>326</Words>
  <Application>Microsoft Office PowerPoint</Application>
  <PresentationFormat>Widescreen</PresentationFormat>
  <Paragraphs>38</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Wingdings</vt:lpstr>
      <vt:lpstr>Wingdings 3</vt:lpstr>
      <vt:lpstr>Facet</vt:lpstr>
      <vt:lpstr>         Healthcare Analytics for Doctor Visits TIRTC</vt:lpstr>
      <vt:lpstr>PROBLEM  STATEMENT</vt:lpstr>
      <vt:lpstr>Project Description  </vt:lpstr>
      <vt:lpstr>WHO ARE THE END USERS?</vt:lpstr>
      <vt:lpstr>Technology Used</vt:lpstr>
      <vt:lpstr>RESULTS </vt:lpstr>
      <vt:lpstr>RESULTS </vt:lpstr>
      <vt:lpstr>RESULTS </vt:lpstr>
      <vt:lpstr>RESULTS </vt:lpstr>
      <vt:lpstr>RESULTS </vt:lpstr>
      <vt:lpstr>GitHub Link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annma</cp:lastModifiedBy>
  <cp:revision>82</cp:revision>
  <dcterms:created xsi:type="dcterms:W3CDTF">2021-07-11T13:13:15Z</dcterms:created>
  <dcterms:modified xsi:type="dcterms:W3CDTF">2026-10-01T10:25:57Z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